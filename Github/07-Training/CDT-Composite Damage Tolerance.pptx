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7" r:id="rId4"/>
    <p:sldId id="258" r:id="rId5"/>
    <p:sldId id="259" r:id="rId6"/>
    <p:sldId id="261" r:id="rId7"/>
    <p:sldId id="265" r:id="rId8"/>
    <p:sldId id="264" r:id="rId9"/>
    <p:sldId id="266" r:id="rId10"/>
    <p:sldId id="272" r:id="rId11"/>
    <p:sldId id="275" r:id="rId12"/>
    <p:sldId id="276" r:id="rId13"/>
    <p:sldId id="268" r:id="rId14"/>
    <p:sldId id="269" r:id="rId15"/>
    <p:sldId id="270" r:id="rId16"/>
    <p:sldId id="271" r:id="rId17"/>
    <p:sldId id="273" r:id="rId18"/>
    <p:sldId id="26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17C86-8520-433A-8189-2E7B7B9307F1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D8B3B-7D24-4113-BF13-749BCBC5AC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5806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D8B3B-7D24-4113-BF13-749BCBC5AC75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9465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256A19-4039-45DA-ADAD-6C0DABBAE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3B480-CEF6-4608-8A5C-39FDC4FBD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D70C03-7567-4F1F-9923-B67D22EC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390C26-334B-4909-8CBA-DCD00777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62C6AE-F03F-4116-B425-9188E9CF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cSlideMaster.Diapositiva de títuloHeader" descr="Airbus Amber ">
            <a:extLst>
              <a:ext uri="{FF2B5EF4-FFF2-40B4-BE49-F238E27FC236}">
                <a16:creationId xmlns:a16="http://schemas.microsoft.com/office/drawing/2014/main" id="{72495590-6B77-4E8A-AA84-4D2B01BB1E3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Diapositiva de títuloFooter" descr="Airbus Amber ">
            <a:extLst>
              <a:ext uri="{FF2B5EF4-FFF2-40B4-BE49-F238E27FC236}">
                <a16:creationId xmlns:a16="http://schemas.microsoft.com/office/drawing/2014/main" id="{6D81E0DF-4116-4772-9BC6-02F2FC9DB3CD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146050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37E74-9CE5-49BB-A867-910F37DD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2EF69-F3AA-44AE-A483-DFC7B6C15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DB3811-0FCE-4F2C-8E69-1DF522EB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C07918-8FD5-4E22-91DB-11F3AE23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D3EC25-1CF7-40CF-A31D-2C18F418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cSlideMaster.Título y objetosHeader" descr="Airbus Amber ">
            <a:extLst>
              <a:ext uri="{FF2B5EF4-FFF2-40B4-BE49-F238E27FC236}">
                <a16:creationId xmlns:a16="http://schemas.microsoft.com/office/drawing/2014/main" id="{61716ED7-DDFE-4626-B007-7CD6840220F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Título y objetosFooter" descr="Airbus Amber ">
            <a:extLst>
              <a:ext uri="{FF2B5EF4-FFF2-40B4-BE49-F238E27FC236}">
                <a16:creationId xmlns:a16="http://schemas.microsoft.com/office/drawing/2014/main" id="{08DC63D1-7939-41C2-A1E1-09EEBE16E4F5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315336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17E16-A382-4F4E-BBC9-48A29E1D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F4D035-2B5B-41FF-B8A9-9C18635FF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2A2FB-C37E-4F4D-B431-F321E0AA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BD4BA8-8B17-4820-9DB0-0F8A33EE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1A3F75-8FEE-43A5-809D-C0E01007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cSlideMaster.Encabezado de secciónHeader" descr="Airbus Amber ">
            <a:extLst>
              <a:ext uri="{FF2B5EF4-FFF2-40B4-BE49-F238E27FC236}">
                <a16:creationId xmlns:a16="http://schemas.microsoft.com/office/drawing/2014/main" id="{EF1FE278-7148-4B1B-82B8-F341798C7E6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Encabezado de secciónFooter" descr="Airbus Amber ">
            <a:extLst>
              <a:ext uri="{FF2B5EF4-FFF2-40B4-BE49-F238E27FC236}">
                <a16:creationId xmlns:a16="http://schemas.microsoft.com/office/drawing/2014/main" id="{6BE01B55-0B45-4894-A801-3AAA56C667BE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21242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4CBFD-BFDD-4709-B1EC-D8F1BF9E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3738B1-8E7D-45F6-8693-19A3F80F1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D1B1EC-15A4-41FF-9C15-271C940F3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7EEBB9-D167-4B81-8B5F-A9DE5768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3D96CE-1855-4CB5-8EA5-414BECF1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87EEEA-01A3-4CEE-A3B6-69C839CE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hcSlideMaster.Dos objetosHeader" descr="Airbus Amber ">
            <a:extLst>
              <a:ext uri="{FF2B5EF4-FFF2-40B4-BE49-F238E27FC236}">
                <a16:creationId xmlns:a16="http://schemas.microsoft.com/office/drawing/2014/main" id="{C4EEC37D-B490-4889-BD92-3FE06041F121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9" name="fcSlideMaster.Dos objetosFooter" descr="Airbus Amber ">
            <a:extLst>
              <a:ext uri="{FF2B5EF4-FFF2-40B4-BE49-F238E27FC236}">
                <a16:creationId xmlns:a16="http://schemas.microsoft.com/office/drawing/2014/main" id="{841B6921-DFAB-46C2-B3E2-CF337527BB18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66268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0FD59-A019-445B-BAE7-F8BFF8E1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D1B8C0-B77C-4609-81E0-6C030EFBF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14923F-6C34-44A5-ABB1-E408A9835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CD3CA2-507B-425B-9932-6235423A7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7E15FE-8355-4E27-A166-EA3736559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F4FBD0-A0B7-4B0D-A8B9-6734804F0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482D6F-9B5E-42FF-948F-908EB948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8BF22F-5E91-42BE-80F5-D63CE919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hcSlideMaster.ComparaciónHeader" descr="Airbus Amber ">
            <a:extLst>
              <a:ext uri="{FF2B5EF4-FFF2-40B4-BE49-F238E27FC236}">
                <a16:creationId xmlns:a16="http://schemas.microsoft.com/office/drawing/2014/main" id="{7A8A8E4E-B85F-469B-9015-080EECA620C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11" name="fcSlideMaster.ComparaciónFooter" descr="Airbus Amber ">
            <a:extLst>
              <a:ext uri="{FF2B5EF4-FFF2-40B4-BE49-F238E27FC236}">
                <a16:creationId xmlns:a16="http://schemas.microsoft.com/office/drawing/2014/main" id="{B1DC2468-B36A-4AF4-BEEA-3C1F9E179913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136528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BB594-C5BD-4F1B-B999-7E62E964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621514-2540-48EC-9291-99ADEBBE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35CA70-9D84-4228-88BA-DFE5785C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E2884E-1FDF-48B3-9EC9-25080714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hcSlideMaster.Solo el títuloHeader" descr="Airbus Amber ">
            <a:extLst>
              <a:ext uri="{FF2B5EF4-FFF2-40B4-BE49-F238E27FC236}">
                <a16:creationId xmlns:a16="http://schemas.microsoft.com/office/drawing/2014/main" id="{689A15B7-56FA-46CA-A284-70C7F75F2D4E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7" name="fcSlideMaster.Solo el títuloFooter" descr="Airbus Amber ">
            <a:extLst>
              <a:ext uri="{FF2B5EF4-FFF2-40B4-BE49-F238E27FC236}">
                <a16:creationId xmlns:a16="http://schemas.microsoft.com/office/drawing/2014/main" id="{D772F4DE-98E0-447E-8E78-DEF2C1378543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66224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460782-9EAB-46EE-ADAF-21052364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415022-E14C-475B-943A-5FA80230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E255CF-4AA4-4CD0-B4D0-42318A61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hcSlideMaster.En blancoHeader" descr="Airbus Amber ">
            <a:extLst>
              <a:ext uri="{FF2B5EF4-FFF2-40B4-BE49-F238E27FC236}">
                <a16:creationId xmlns:a16="http://schemas.microsoft.com/office/drawing/2014/main" id="{C92FA3DA-F710-4187-92F7-D7A0C807CA8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6" name="fcSlideMaster.En blancoFooter" descr="Airbus Amber ">
            <a:extLst>
              <a:ext uri="{FF2B5EF4-FFF2-40B4-BE49-F238E27FC236}">
                <a16:creationId xmlns:a16="http://schemas.microsoft.com/office/drawing/2014/main" id="{1A9454EE-8CBD-4597-9242-22FCE22D984D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306034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76FB4-CC52-4DC5-AD1B-87BE5F48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E61DC4-2109-47FB-BAA7-7C78F93B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B3D77F-448D-4812-A40A-09BF9CF28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FC5C55-B1AE-4666-A07E-790EAE447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22A21C-A11A-46E6-9325-69190512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FE5D7E-CB07-4751-90D2-52122924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hcSlideMaster.Contenido con títuloHeader" descr="Airbus Amber ">
            <a:extLst>
              <a:ext uri="{FF2B5EF4-FFF2-40B4-BE49-F238E27FC236}">
                <a16:creationId xmlns:a16="http://schemas.microsoft.com/office/drawing/2014/main" id="{7B409435-3925-4C97-88A7-A62ACF1308BE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9" name="fcSlideMaster.Contenido con títuloFooter" descr="Airbus Amber ">
            <a:extLst>
              <a:ext uri="{FF2B5EF4-FFF2-40B4-BE49-F238E27FC236}">
                <a16:creationId xmlns:a16="http://schemas.microsoft.com/office/drawing/2014/main" id="{D3B2A675-1E03-498F-AB46-7C8381FC5C9E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369265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6B40D-DAA3-4193-A0B2-905261D3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315F52-C6C3-4D2B-B079-1D878689D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9E258A-4BCA-4007-B701-0418890B3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4EA2A7-812E-4A65-8E32-3AA85A33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E05283-1C96-4CAF-9D83-79E8A4A2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FFA90C-1FE3-45E4-9F10-EB90C8AA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hcSlideMaster.Imagen con títuloHeader" descr="Airbus Amber ">
            <a:extLst>
              <a:ext uri="{FF2B5EF4-FFF2-40B4-BE49-F238E27FC236}">
                <a16:creationId xmlns:a16="http://schemas.microsoft.com/office/drawing/2014/main" id="{32B793AA-CADD-4234-8A42-E604C24FFE1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9" name="fcSlideMaster.Imagen con títuloFooter" descr="Airbus Amber ">
            <a:extLst>
              <a:ext uri="{FF2B5EF4-FFF2-40B4-BE49-F238E27FC236}">
                <a16:creationId xmlns:a16="http://schemas.microsoft.com/office/drawing/2014/main" id="{9F936A80-30A5-4C72-88CD-750B220B3758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127420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47C52-876E-4590-A8E6-FFC1A8B5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D3FF58-E10C-4F13-965D-3D919F8A4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7982B4-85B9-49C2-9B85-82C4AEC2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D6B45F-D8B9-4C94-A649-7EAB5767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BC13FA-B1A4-4A9A-8F43-7DD11E5B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cSlideMaster.Título y texto verticalHeader" descr="Airbus Amber ">
            <a:extLst>
              <a:ext uri="{FF2B5EF4-FFF2-40B4-BE49-F238E27FC236}">
                <a16:creationId xmlns:a16="http://schemas.microsoft.com/office/drawing/2014/main" id="{AF62A1F8-2CB8-48E4-A4E6-67B6553B6F81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Título y texto verticalFooter" descr="Airbus Amber ">
            <a:extLst>
              <a:ext uri="{FF2B5EF4-FFF2-40B4-BE49-F238E27FC236}">
                <a16:creationId xmlns:a16="http://schemas.microsoft.com/office/drawing/2014/main" id="{CD3268A4-2832-4E04-9780-B285DFFE98E1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221289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FF2096-1EB0-48FB-BEBD-8C443887B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73CB3A-A5F3-4237-BA4C-7E1A190E4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59D251-EA96-48C9-93C0-FC3D8A53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C11095-AB79-473F-9287-3510F77C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E63E3F-1A78-45D4-8956-6D911ABC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hcSlideMaster.Título vertical y textoHeader" descr="Airbus Amber ">
            <a:extLst>
              <a:ext uri="{FF2B5EF4-FFF2-40B4-BE49-F238E27FC236}">
                <a16:creationId xmlns:a16="http://schemas.microsoft.com/office/drawing/2014/main" id="{48994D7B-B7FD-430A-8D76-1D2C4E9D068E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  <p:sp>
        <p:nvSpPr>
          <p:cNvPr id="8" name="fcSlideMaster.Título vertical y textoFooter" descr="Airbus Amber ">
            <a:extLst>
              <a:ext uri="{FF2B5EF4-FFF2-40B4-BE49-F238E27FC236}">
                <a16:creationId xmlns:a16="http://schemas.microsoft.com/office/drawing/2014/main" id="{A45E0051-2CC7-4BAE-AA8B-0F076F803785}"/>
              </a:ext>
            </a:extLst>
          </p:cNvPr>
          <p:cNvSpPr txBox="1"/>
          <p:nvPr userDrawn="1"/>
        </p:nvSpPr>
        <p:spPr>
          <a:xfrm>
            <a:off x="0" y="654558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800" b="0" i="0" u="none" baseline="0">
                <a:solidFill>
                  <a:srgbClr val="E29218"/>
                </a:solidFill>
                <a:latin typeface="arial" panose="020B0604020202020204" pitchFamily="34" charset="0"/>
              </a:rPr>
              <a:t>Airbus Amber </a:t>
            </a:r>
          </a:p>
        </p:txBody>
      </p:sp>
    </p:spTree>
    <p:extLst>
      <p:ext uri="{BB962C8B-B14F-4D97-AF65-F5344CB8AC3E}">
        <p14:creationId xmlns:p14="http://schemas.microsoft.com/office/powerpoint/2010/main" val="272226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BE961F-9685-4A8D-9B92-3329DB86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C29E83-AC70-42E7-AFFF-D8B8C2952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C942E9-7EE4-4581-981D-AF0B13F8F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0D7EC-58F8-43CA-9786-BE851EB12F25}" type="datetimeFigureOut">
              <a:rPr lang="es-ES" smtClean="0"/>
              <a:t>14/07/2025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E55BF-2E65-4A8C-A736-1C3F5E423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CC5C94-596C-4B60-8989-52D6B6A4B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99BC8-5ACE-4CE4-8F74-A2E45E8CC9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811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72BB300-30B6-4C38-9558-8B43E1A3D4AA}"/>
              </a:ext>
            </a:extLst>
          </p:cNvPr>
          <p:cNvSpPr txBox="1"/>
          <p:nvPr/>
        </p:nvSpPr>
        <p:spPr>
          <a:xfrm>
            <a:off x="1806616" y="2046914"/>
            <a:ext cx="8578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000" u="sng" dirty="0"/>
              <a:t>COMPOSITE DAMAGE TOLERANCE (CDT)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B86A13-9294-4455-AC7F-B06B66C1A72E}"/>
              </a:ext>
            </a:extLst>
          </p:cNvPr>
          <p:cNvSpPr txBox="1"/>
          <p:nvPr/>
        </p:nvSpPr>
        <p:spPr>
          <a:xfrm>
            <a:off x="3789532" y="3429000"/>
            <a:ext cx="4612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Residual strength after BVID impact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6BAEAA-8BEC-4832-A953-3D311EB5B7A9}"/>
              </a:ext>
            </a:extLst>
          </p:cNvPr>
          <p:cNvSpPr txBox="1"/>
          <p:nvPr/>
        </p:nvSpPr>
        <p:spPr>
          <a:xfrm>
            <a:off x="9154953" y="6105525"/>
            <a:ext cx="27275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Guillermo Balsalobre Carmona</a:t>
            </a:r>
          </a:p>
          <a:p>
            <a:pPr algn="r"/>
            <a:r>
              <a:rPr lang="en-US" sz="1600" dirty="0"/>
              <a:t>Julio de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7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2762B55-3167-4AC2-A39F-BF011AA83D75}"/>
              </a:ext>
            </a:extLst>
          </p:cNvPr>
          <p:cNvSpPr txBox="1"/>
          <p:nvPr/>
        </p:nvSpPr>
        <p:spPr>
          <a:xfrm>
            <a:off x="425706" y="744523"/>
            <a:ext cx="949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Index: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9D3AD3-623A-4071-827A-607DBA88B5FA}"/>
              </a:ext>
            </a:extLst>
          </p:cNvPr>
          <p:cNvSpPr txBox="1"/>
          <p:nvPr/>
        </p:nvSpPr>
        <p:spPr>
          <a:xfrm>
            <a:off x="425706" y="1373968"/>
            <a:ext cx="2846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BVID impact criterion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68B358-5F4B-4D40-9279-6216BD5AC519}"/>
              </a:ext>
            </a:extLst>
          </p:cNvPr>
          <p:cNvSpPr txBox="1"/>
          <p:nvPr/>
        </p:nvSpPr>
        <p:spPr>
          <a:xfrm>
            <a:off x="425706" y="2003413"/>
            <a:ext cx="1882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Design values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1E12C8-BCBD-4E76-8E2C-788BA85DAF49}"/>
              </a:ext>
            </a:extLst>
          </p:cNvPr>
          <p:cNvSpPr txBox="1"/>
          <p:nvPr/>
        </p:nvSpPr>
        <p:spPr>
          <a:xfrm>
            <a:off x="433849" y="3891748"/>
            <a:ext cx="4513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Suggestion for future CDT analyses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239FC1-3CB5-44F8-B05F-E9E240F71377}"/>
              </a:ext>
            </a:extLst>
          </p:cNvPr>
          <p:cNvSpPr txBox="1"/>
          <p:nvPr/>
        </p:nvSpPr>
        <p:spPr>
          <a:xfrm>
            <a:off x="433849" y="2632858"/>
            <a:ext cx="3851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CDT module of SAM software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53BD14-0037-4938-A458-568465F87726}"/>
              </a:ext>
            </a:extLst>
          </p:cNvPr>
          <p:cNvSpPr txBox="1"/>
          <p:nvPr/>
        </p:nvSpPr>
        <p:spPr>
          <a:xfrm>
            <a:off x="433849" y="3262303"/>
            <a:ext cx="152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Case study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A9B6FA-5D07-4E9C-B5A1-342C3AAA0282}"/>
              </a:ext>
            </a:extLst>
          </p:cNvPr>
          <p:cNvSpPr txBox="1"/>
          <p:nvPr/>
        </p:nvSpPr>
        <p:spPr>
          <a:xfrm>
            <a:off x="433849" y="4521193"/>
            <a:ext cx="1561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1299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9D840B-94E0-4D8A-92A3-F3B6D22AF07B}"/>
              </a:ext>
            </a:extLst>
          </p:cNvPr>
          <p:cNvSpPr txBox="1"/>
          <p:nvPr/>
        </p:nvSpPr>
        <p:spPr>
          <a:xfrm>
            <a:off x="460170" y="1373698"/>
            <a:ext cx="116115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· BVID – </a:t>
            </a:r>
            <a:r>
              <a:rPr lang="en-GB" sz="2000" b="0" i="0" u="none" strike="noStrike" baseline="0" dirty="0"/>
              <a:t>Barely Visible Impact Damage. It is the damage in a composite laminate</a:t>
            </a:r>
          </a:p>
          <a:p>
            <a:pPr algn="l"/>
            <a:r>
              <a:rPr lang="en-GB" sz="2000" b="0" i="0" u="none" strike="noStrike" baseline="0" dirty="0"/>
              <a:t>consequence of a low velocity impact at the threshold of (visible) detectability.</a:t>
            </a:r>
            <a:endParaRPr lang="en-US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8E947A-4374-4162-9997-68F25EC1C4A7}"/>
              </a:ext>
            </a:extLst>
          </p:cNvPr>
          <p:cNvSpPr txBox="1"/>
          <p:nvPr/>
        </p:nvSpPr>
        <p:spPr>
          <a:xfrm>
            <a:off x="425706" y="744523"/>
            <a:ext cx="5972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Residual strength after BVID impact criterion: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10ED53-55A9-47C6-B2A4-1C727AA2ADCF}"/>
              </a:ext>
            </a:extLst>
          </p:cNvPr>
          <p:cNvSpPr txBox="1"/>
          <p:nvPr/>
        </p:nvSpPr>
        <p:spPr>
          <a:xfrm>
            <a:off x="460170" y="3258840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400" dirty="0"/>
              <a:t>· Transversal and Edge impact:</a:t>
            </a:r>
            <a:endParaRPr lang="en-US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CD3FED-76F1-4AAA-8F66-7E898B0BB361}"/>
              </a:ext>
            </a:extLst>
          </p:cNvPr>
          <p:cNvSpPr txBox="1"/>
          <p:nvPr/>
        </p:nvSpPr>
        <p:spPr>
          <a:xfrm>
            <a:off x="460170" y="2470157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· Low energy impact (typ. E=35J)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160CDDF-BE85-465E-BA55-7FA6CC5DC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77" y="3941474"/>
            <a:ext cx="9278645" cy="2172003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2218431-AE5A-4E0C-8F3B-852EA5AC7D69}"/>
              </a:ext>
            </a:extLst>
          </p:cNvPr>
          <p:cNvCxnSpPr>
            <a:cxnSpLocks/>
          </p:cNvCxnSpPr>
          <p:nvPr/>
        </p:nvCxnSpPr>
        <p:spPr>
          <a:xfrm flipV="1">
            <a:off x="2231470" y="5964572"/>
            <a:ext cx="494951" cy="553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97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89506D-8A5F-41EA-A0E1-50161BC40E6F}"/>
              </a:ext>
            </a:extLst>
          </p:cNvPr>
          <p:cNvSpPr txBox="1"/>
          <p:nvPr/>
        </p:nvSpPr>
        <p:spPr>
          <a:xfrm>
            <a:off x="460171" y="744523"/>
            <a:ext cx="2010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Design values: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0FBE37-B34A-4DC2-96FF-FF767627550B}"/>
              </a:ext>
            </a:extLst>
          </p:cNvPr>
          <p:cNvSpPr txBox="1"/>
          <p:nvPr/>
        </p:nvSpPr>
        <p:spPr>
          <a:xfrm>
            <a:off x="460170" y="1373698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TAI: Tension After Impact, as allowable strain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25D87B-E6F0-4B70-A743-04553A1167C7}"/>
              </a:ext>
            </a:extLst>
          </p:cNvPr>
          <p:cNvSpPr txBox="1"/>
          <p:nvPr/>
        </p:nvSpPr>
        <p:spPr>
          <a:xfrm>
            <a:off x="460169" y="2002873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CAI: Compression After Impact, as allowable strain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400B9E-C281-47BB-BE30-46FD590C8013}"/>
              </a:ext>
            </a:extLst>
          </p:cNvPr>
          <p:cNvSpPr txBox="1"/>
          <p:nvPr/>
        </p:nvSpPr>
        <p:spPr>
          <a:xfrm>
            <a:off x="460169" y="2632048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BAI: Bending After Impact, as allowable strain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44AC02-D97C-4E2E-B3E3-80DEDD891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725" y="3864826"/>
            <a:ext cx="6420746" cy="161947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EB169E6-9E78-4ED4-9116-944031F7CDC8}"/>
              </a:ext>
            </a:extLst>
          </p:cNvPr>
          <p:cNvSpPr txBox="1"/>
          <p:nvPr/>
        </p:nvSpPr>
        <p:spPr>
          <a:xfrm>
            <a:off x="4592295" y="5578766"/>
            <a:ext cx="7447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Sketch of impacted laminates (tension &amp; compression)</a:t>
            </a:r>
          </a:p>
        </p:txBody>
      </p:sp>
    </p:spTree>
    <p:extLst>
      <p:ext uri="{BB962C8B-B14F-4D97-AF65-F5344CB8AC3E}">
        <p14:creationId xmlns:p14="http://schemas.microsoft.com/office/powerpoint/2010/main" val="360584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E29B4B2-3052-4566-97AD-EAF444A39243}"/>
              </a:ext>
            </a:extLst>
          </p:cNvPr>
          <p:cNvSpPr txBox="1"/>
          <p:nvPr/>
        </p:nvSpPr>
        <p:spPr>
          <a:xfrm>
            <a:off x="460170" y="1918307"/>
            <a:ext cx="4397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TAI allowable is a constant material property.</a:t>
            </a:r>
          </a:p>
          <a:p>
            <a:pPr algn="l"/>
            <a:r>
              <a:rPr lang="en-US" dirty="0"/>
              <a:t>Same B-basis value for all conditions.</a:t>
            </a:r>
            <a:endParaRPr lang="en-US" sz="1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4B4978-1C36-4DAD-A717-E46234DAEAE7}"/>
              </a:ext>
            </a:extLst>
          </p:cNvPr>
          <p:cNvSpPr txBox="1"/>
          <p:nvPr/>
        </p:nvSpPr>
        <p:spPr>
          <a:xfrm>
            <a:off x="460171" y="759204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u="sng" dirty="0"/>
              <a:t>TAI: Tension After Impact, as allowable strain: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87A599-B9E1-49A1-B035-4EB8A7E82698}"/>
              </a:ext>
            </a:extLst>
          </p:cNvPr>
          <p:cNvSpPr txBox="1"/>
          <p:nvPr/>
        </p:nvSpPr>
        <p:spPr>
          <a:xfrm>
            <a:off x="460170" y="2943874"/>
            <a:ext cx="7358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TAI allowable takes minimum values are not affected by the temperature.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295897E-1D21-484C-BD73-C3B5607BA744}"/>
              </a:ext>
            </a:extLst>
          </p:cNvPr>
          <p:cNvSpPr txBox="1"/>
          <p:nvPr/>
        </p:nvSpPr>
        <p:spPr>
          <a:xfrm>
            <a:off x="460170" y="4394564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u="sng" dirty="0"/>
              <a:t>BAI: Bearing After Impact, as allowable strain: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0E79F99-88FB-45DB-A537-29C0946D9419}"/>
              </a:ext>
            </a:extLst>
          </p:cNvPr>
          <p:cNvSpPr txBox="1"/>
          <p:nvPr/>
        </p:nvSpPr>
        <p:spPr>
          <a:xfrm>
            <a:off x="460170" y="4968371"/>
            <a:ext cx="10462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Depends on material. Can be calculated, but for IMA-M21E_UD Tape, and in the absence of more precise test data, </a:t>
            </a:r>
            <a:r>
              <a:rPr lang="en-US" b="1" dirty="0"/>
              <a:t>TAI is used as cut-off value for BAI.</a:t>
            </a:r>
            <a:endParaRPr lang="en-US" sz="18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D70E034-0AC6-4103-8195-F8E65F993A6B}"/>
              </a:ext>
            </a:extLst>
          </p:cNvPr>
          <p:cNvSpPr txBox="1"/>
          <p:nvPr/>
        </p:nvSpPr>
        <p:spPr>
          <a:xfrm>
            <a:off x="460170" y="3313206"/>
            <a:ext cx="6977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Airbus DS approximation: TAI is a fixed value for each material, </a:t>
            </a:r>
            <a:r>
              <a:rPr lang="en-US" sz="1800" b="1" dirty="0"/>
              <a:t>independent of fibre directionality or thickness</a:t>
            </a:r>
            <a:r>
              <a:rPr lang="en-US" sz="1800" dirty="0"/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0F49AD-63B6-43B4-9ACC-40DFD6876297}"/>
              </a:ext>
            </a:extLst>
          </p:cNvPr>
          <p:cNvSpPr txBox="1"/>
          <p:nvPr/>
        </p:nvSpPr>
        <p:spPr>
          <a:xfrm>
            <a:off x="10000154" y="868754"/>
            <a:ext cx="2071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IMA-M21E_UD Tape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554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F91A3A1-79C4-4567-9563-EF590BF17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60" y="3654247"/>
            <a:ext cx="4612562" cy="293850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47A8CC4-D1F3-4627-8B15-E8B6DA83AFBF}"/>
              </a:ext>
            </a:extLst>
          </p:cNvPr>
          <p:cNvSpPr txBox="1"/>
          <p:nvPr/>
        </p:nvSpPr>
        <p:spPr>
          <a:xfrm>
            <a:off x="460169" y="759203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u="sng" dirty="0"/>
              <a:t>CAI: Compression After Impact, as allowable strain: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6B349B5-671C-47DB-8CF7-ECC50E913214}"/>
                  </a:ext>
                </a:extLst>
              </p:cNvPr>
              <p:cNvSpPr txBox="1"/>
              <p:nvPr/>
            </p:nvSpPr>
            <p:spPr>
              <a:xfrm>
                <a:off x="460168" y="1308238"/>
                <a:ext cx="11049527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800" dirty="0"/>
                  <a:t>CAI is modelled with sensitivity to </a:t>
                </a:r>
                <a:r>
                  <a:rPr lang="en-US" sz="1800" b="1" dirty="0"/>
                  <a:t>fibre directionality </a:t>
                </a:r>
                <a:r>
                  <a:rPr lang="en-US" sz="1800" dirty="0"/>
                  <a:t>and </a:t>
                </a:r>
                <a:r>
                  <a:rPr lang="en-US" sz="1800" b="1" dirty="0"/>
                  <a:t>laminate thickness</a:t>
                </a:r>
                <a:r>
                  <a:rPr lang="en-US" sz="1800" dirty="0"/>
                  <a:t>.</a:t>
                </a:r>
                <a:endParaRPr lang="en-US" sz="1800" b="1" dirty="0"/>
              </a:p>
              <a:p>
                <a:pPr algn="l"/>
                <a:endParaRPr lang="en-US" dirty="0"/>
              </a:p>
              <a:p>
                <a:pPr algn="l"/>
                <a:r>
                  <a:rPr lang="en-US" sz="1800" dirty="0"/>
                  <a:t>Three values of CAI are used based on stacking angles (0º, ±45º, 90º):</a:t>
                </a:r>
              </a:p>
              <a:p>
                <a:pPr algn="l"/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	· One to compare with strain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800" dirty="0"/>
                  <a:t> in plies at 0º:		  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𝐶𝐴𝐼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	· Another one to compare with strain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800" dirty="0"/>
                  <a:t> in plies at 45º:  	  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𝐶𝐴𝐼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	· Finally, another to compare with strain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1800" dirty="0"/>
                  <a:t> in plies at 0º:  	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𝐶𝐴𝐼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algn="l"/>
                <a:r>
                  <a:rPr lang="en-US" dirty="0"/>
                  <a:t> </a:t>
                </a:r>
              </a:p>
              <a:p>
                <a:pPr algn="l"/>
                <a:r>
                  <a:rPr lang="en-US" dirty="0"/>
                  <a:t>in order to calculate RF in each direction as shown: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6B349B5-671C-47DB-8CF7-ECC50E913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68" y="1308238"/>
                <a:ext cx="11049527" cy="2585323"/>
              </a:xfrm>
              <a:prstGeom prst="rect">
                <a:avLst/>
              </a:prstGeom>
              <a:blipFill>
                <a:blip r:embed="rId3"/>
                <a:stretch>
                  <a:fillRect l="-441" t="-1415" b="-28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BFBE4546-5EF6-481C-843A-943F271A0358}"/>
              </a:ext>
            </a:extLst>
          </p:cNvPr>
          <p:cNvSpPr txBox="1"/>
          <p:nvPr/>
        </p:nvSpPr>
        <p:spPr>
          <a:xfrm>
            <a:off x="10270924" y="4569502"/>
            <a:ext cx="1853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Sketch with static margins for all ply directions in a plate under bi-axial compression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2DAC8C6-8D3A-4060-9E09-4DC248787EE7}"/>
                  </a:ext>
                </a:extLst>
              </p:cNvPr>
              <p:cNvSpPr txBox="1"/>
              <p:nvPr/>
            </p:nvSpPr>
            <p:spPr>
              <a:xfrm>
                <a:off x="1937857" y="4179101"/>
                <a:ext cx="20273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𝑅𝐹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𝐴𝐼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2DAC8C6-8D3A-4060-9E09-4DC248787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857" y="4179101"/>
                <a:ext cx="2027339" cy="369332"/>
              </a:xfrm>
              <a:prstGeom prst="rect">
                <a:avLst/>
              </a:prstGeom>
              <a:blipFill>
                <a:blip r:embed="rId4"/>
                <a:stretch>
                  <a:fillRect t="-118333" r="-12048" b="-18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5C6DC00-F3F8-4000-8544-2BE88A802049}"/>
                  </a:ext>
                </a:extLst>
              </p:cNvPr>
              <p:cNvSpPr txBox="1"/>
              <p:nvPr/>
            </p:nvSpPr>
            <p:spPr>
              <a:xfrm>
                <a:off x="1937854" y="4497331"/>
                <a:ext cx="20273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𝑅𝐹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𝐴𝐼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5C6DC00-F3F8-4000-8544-2BE88A802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854" y="4497331"/>
                <a:ext cx="2027339" cy="369332"/>
              </a:xfrm>
              <a:prstGeom prst="rect">
                <a:avLst/>
              </a:prstGeom>
              <a:blipFill>
                <a:blip r:embed="rId5"/>
                <a:stretch>
                  <a:fillRect t="-118333" r="-14157" b="-18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3BB6C27-E79C-4DBB-906B-5FB9B0C08C16}"/>
                  </a:ext>
                </a:extLst>
              </p:cNvPr>
              <p:cNvSpPr txBox="1"/>
              <p:nvPr/>
            </p:nvSpPr>
            <p:spPr>
              <a:xfrm>
                <a:off x="1768675" y="4863117"/>
                <a:ext cx="2365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𝑅𝐹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𝐴𝐼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3BB6C27-E79C-4DBB-906B-5FB9B0C08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675" y="4863117"/>
                <a:ext cx="2365696" cy="369332"/>
              </a:xfrm>
              <a:prstGeom prst="rect">
                <a:avLst/>
              </a:prstGeom>
              <a:blipFill>
                <a:blip r:embed="rId6"/>
                <a:stretch>
                  <a:fillRect t="-118333" r="-5155" b="-18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E0AAD31-1411-441B-A2D9-436629A39184}"/>
                  </a:ext>
                </a:extLst>
              </p:cNvPr>
              <p:cNvSpPr txBox="1"/>
              <p:nvPr/>
            </p:nvSpPr>
            <p:spPr>
              <a:xfrm>
                <a:off x="1937854" y="5232449"/>
                <a:ext cx="20273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𝑅𝐹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𝐴𝐼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E0AAD31-1411-441B-A2D9-436629A39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854" y="5232449"/>
                <a:ext cx="2027339" cy="369332"/>
              </a:xfrm>
              <a:prstGeom prst="rect">
                <a:avLst/>
              </a:prstGeom>
              <a:blipFill>
                <a:blip r:embed="rId7"/>
                <a:stretch>
                  <a:fillRect t="-116393" r="-14157" b="-17541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354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EB17E6B0-6AF1-42A8-AC80-6B7985E0CFCE}"/>
              </a:ext>
            </a:extLst>
          </p:cNvPr>
          <p:cNvSpPr txBox="1"/>
          <p:nvPr/>
        </p:nvSpPr>
        <p:spPr>
          <a:xfrm>
            <a:off x="1118242" y="2392253"/>
            <a:ext cx="4777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CAI depends on impact energy, material - elastic modulus of material and of direction of interest, thickness of each fibre direction, temperature…</a:t>
            </a:r>
            <a:endParaRPr lang="en-US" sz="1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47A8CC4-D1F3-4627-8B15-E8B6DA83AFBF}"/>
              </a:ext>
            </a:extLst>
          </p:cNvPr>
          <p:cNvSpPr txBox="1"/>
          <p:nvPr/>
        </p:nvSpPr>
        <p:spPr>
          <a:xfrm>
            <a:off x="460169" y="759203"/>
            <a:ext cx="11611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u="sng" dirty="0"/>
              <a:t>CAI: Compression After Impact, as allowable strain: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0937B0B-E3D6-462A-A1A6-679230B359EA}"/>
              </a:ext>
            </a:extLst>
          </p:cNvPr>
          <p:cNvSpPr txBox="1"/>
          <p:nvPr/>
        </p:nvSpPr>
        <p:spPr>
          <a:xfrm>
            <a:off x="7387563" y="3596990"/>
            <a:ext cx="4778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CAI allowable increase with the laminate thickness and there is a reduction of the allowable value with the Temperature</a:t>
            </a:r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E6C6830-277F-42AB-A11A-978E35D9B95D}"/>
              </a:ext>
            </a:extLst>
          </p:cNvPr>
          <p:cNvSpPr txBox="1"/>
          <p:nvPr/>
        </p:nvSpPr>
        <p:spPr>
          <a:xfrm>
            <a:off x="9559733" y="952685"/>
            <a:ext cx="2071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IMA-M21E_UD Tape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D983FD-9231-4C5B-B6E9-6EB1549D874D}"/>
              </a:ext>
            </a:extLst>
          </p:cNvPr>
          <p:cNvSpPr txBox="1"/>
          <p:nvPr/>
        </p:nvSpPr>
        <p:spPr>
          <a:xfrm>
            <a:off x="2418307" y="5502631"/>
            <a:ext cx="7358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Each laminate needs 3 CAI calculations…  CDT software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5302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203FA7-1F23-4993-B64A-9722BFA62D2E}"/>
              </a:ext>
            </a:extLst>
          </p:cNvPr>
          <p:cNvSpPr txBox="1"/>
          <p:nvPr/>
        </p:nvSpPr>
        <p:spPr>
          <a:xfrm>
            <a:off x="460171" y="744523"/>
            <a:ext cx="4020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CDT module of SAM software: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68BBB5C-01D5-4B22-AECA-3D10704A040E}"/>
              </a:ext>
            </a:extLst>
          </p:cNvPr>
          <p:cNvSpPr txBox="1"/>
          <p:nvPr/>
        </p:nvSpPr>
        <p:spPr>
          <a:xfrm>
            <a:off x="460171" y="1398865"/>
            <a:ext cx="11611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800" b="0" i="0" u="none" strike="noStrike" baseline="0" dirty="0"/>
              <a:t>SAM software: “</a:t>
            </a:r>
            <a:r>
              <a:rPr lang="en-GB" sz="1800" b="0" i="1" u="none" strike="noStrike" baseline="0" dirty="0"/>
              <a:t>Structural Analysis Method” </a:t>
            </a:r>
            <a:r>
              <a:rPr lang="en-GB" sz="1800" b="0" u="none" strike="noStrike" baseline="0" dirty="0"/>
              <a:t>is a</a:t>
            </a:r>
            <a:r>
              <a:rPr lang="en-GB" sz="1800" b="0" i="1" u="none" strike="noStrike" baseline="0" dirty="0"/>
              <a:t> </a:t>
            </a:r>
            <a:r>
              <a:rPr lang="en-GB" sz="1800" b="0" u="none" strike="noStrike" baseline="0" dirty="0"/>
              <a:t>Airbus DS software for performing different types of structural analysis using experimental stress methods under development.</a:t>
            </a:r>
            <a:endParaRPr lang="en-GB" i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326E51-1B25-4694-89F1-11A3A60AC2FD}"/>
              </a:ext>
            </a:extLst>
          </p:cNvPr>
          <p:cNvSpPr txBox="1"/>
          <p:nvPr/>
        </p:nvSpPr>
        <p:spPr>
          <a:xfrm>
            <a:off x="290206" y="2227496"/>
            <a:ext cx="11611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	</a:t>
            </a:r>
            <a:r>
              <a:rPr lang="en-GB" dirty="0"/>
              <a:t>module</a:t>
            </a:r>
            <a:r>
              <a:rPr lang="en-GB" i="1" dirty="0"/>
              <a:t> </a:t>
            </a:r>
            <a:r>
              <a:rPr lang="en-GB" dirty="0"/>
              <a:t>CDT: “</a:t>
            </a:r>
            <a:r>
              <a:rPr lang="en-GB" i="1" dirty="0"/>
              <a:t>Composite Damage Tolerance” </a:t>
            </a:r>
            <a:r>
              <a:rPr lang="en-US" dirty="0"/>
              <a:t>for</a:t>
            </a:r>
            <a:r>
              <a:rPr lang="en-US" i="1" dirty="0"/>
              <a:t> </a:t>
            </a:r>
            <a:r>
              <a:rPr lang="en-US" dirty="0"/>
              <a:t>r</a:t>
            </a:r>
            <a:r>
              <a:rPr lang="en-US" sz="1800" dirty="0"/>
              <a:t>esidual strength after BVID impact analysis</a:t>
            </a:r>
          </a:p>
          <a:p>
            <a:pPr algn="l"/>
            <a:endParaRPr lang="en-GB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7509AF-7C2A-47B1-87BC-D472EAF95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709" y="2959705"/>
            <a:ext cx="5200880" cy="308408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2935992-D03F-4647-9E7E-3155F6F5C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1" y="2965656"/>
            <a:ext cx="4311623" cy="307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01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203FA7-1F23-4993-B64A-9722BFA62D2E}"/>
              </a:ext>
            </a:extLst>
          </p:cNvPr>
          <p:cNvSpPr txBox="1"/>
          <p:nvPr/>
        </p:nvSpPr>
        <p:spPr>
          <a:xfrm>
            <a:off x="460171" y="744523"/>
            <a:ext cx="1636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 study: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F312F06-BC90-4E88-89F5-FEC3776A9765}"/>
              </a:ext>
            </a:extLst>
          </p:cNvPr>
          <p:cNvSpPr txBox="1"/>
          <p:nvPr/>
        </p:nvSpPr>
        <p:spPr>
          <a:xfrm>
            <a:off x="2416816" y="744523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Falcon 10X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471C27-EDB5-4540-8F00-E95BD94335B9}"/>
              </a:ext>
            </a:extLst>
          </p:cNvPr>
          <p:cNvSpPr txBox="1"/>
          <p:nvPr/>
        </p:nvSpPr>
        <p:spPr>
          <a:xfrm>
            <a:off x="460171" y="1328982"/>
            <a:ext cx="7358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Fittings HTP (Box and Elevator) &amp; VTP (Box and Rudder)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295C88-4AC5-4C27-A495-306692D48678}"/>
              </a:ext>
            </a:extLst>
          </p:cNvPr>
          <p:cNvSpPr txBox="1"/>
          <p:nvPr/>
        </p:nvSpPr>
        <p:spPr>
          <a:xfrm>
            <a:off x="830685" y="1698314"/>
            <a:ext cx="7358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CDT analysis on Spar and Skin surroundings of fittings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A5AD07-0D3A-4D6B-A48E-DF8FB51FF0D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935" y="2434028"/>
            <a:ext cx="6120130" cy="309499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58E44D3-8E11-4E57-B5CD-C2EA30173CB9}"/>
              </a:ext>
            </a:extLst>
          </p:cNvPr>
          <p:cNvSpPr txBox="1"/>
          <p:nvPr/>
        </p:nvSpPr>
        <p:spPr>
          <a:xfrm>
            <a:off x="876203" y="5710734"/>
            <a:ext cx="1159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Each location: HF1-HF6 (2 of them with 2 extra Fail safe cases), +Fy/-Fy, Cold/Hot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190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6A22A7-FB27-4011-802E-D8DCB3E8AB80}"/>
              </a:ext>
            </a:extLst>
          </p:cNvPr>
          <p:cNvSpPr txBox="1"/>
          <p:nvPr/>
        </p:nvSpPr>
        <p:spPr>
          <a:xfrm>
            <a:off x="429223" y="758563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u="sng" dirty="0"/>
              <a:t>Pre processing: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F886C6-694D-4C83-A02B-8D71F22A1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37" y="2021719"/>
            <a:ext cx="10287000" cy="4230118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B3F64A4-7312-4BDC-9EC6-D04C5684BD7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294250" y="1543394"/>
            <a:ext cx="117168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33B34B7-187B-45BD-AD2F-BB501FAE7BB6}"/>
              </a:ext>
            </a:extLst>
          </p:cNvPr>
          <p:cNvSpPr txBox="1"/>
          <p:nvPr/>
        </p:nvSpPr>
        <p:spPr>
          <a:xfrm>
            <a:off x="285751" y="1220229"/>
            <a:ext cx="307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Hypermesh Matrix Browser</a:t>
            </a:r>
          </a:p>
          <a:p>
            <a:pPr algn="ctr"/>
            <a:r>
              <a:rPr lang="en-US" sz="1800" b="1" dirty="0"/>
              <a:t> from DFEM forces results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CFA4396-2D8A-402F-A191-E61C1D1B516E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363737" y="1543394"/>
            <a:ext cx="117168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1B02DF9-26A4-4700-B8F1-69370E0F74A3}"/>
              </a:ext>
            </a:extLst>
          </p:cNvPr>
          <p:cNvSpPr txBox="1"/>
          <p:nvPr/>
        </p:nvSpPr>
        <p:spPr>
          <a:xfrm>
            <a:off x="4535423" y="1220228"/>
            <a:ext cx="2758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Excel postprocessing in </a:t>
            </a:r>
            <a:r>
              <a:rPr lang="en-US" i="1" dirty="0"/>
              <a:t>HF1_Loads_COLD_CDT.xls</a:t>
            </a:r>
            <a:endParaRPr lang="en-US" sz="1800" i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F808F0-1744-44F3-A029-CCF573DCF56A}"/>
              </a:ext>
            </a:extLst>
          </p:cNvPr>
          <p:cNvSpPr txBox="1"/>
          <p:nvPr/>
        </p:nvSpPr>
        <p:spPr>
          <a:xfrm>
            <a:off x="8465937" y="1358727"/>
            <a:ext cx="2758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CDT Load Input </a:t>
            </a:r>
            <a:r>
              <a:rPr lang="en-US" sz="1800" i="1" dirty="0"/>
              <a:t>“.sal”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FC7267A-FEAE-4EB0-B8C8-CE5B3787AAC3}"/>
              </a:ext>
            </a:extLst>
          </p:cNvPr>
          <p:cNvSpPr/>
          <p:nvPr/>
        </p:nvSpPr>
        <p:spPr>
          <a:xfrm>
            <a:off x="7448550" y="4476750"/>
            <a:ext cx="923925" cy="1333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E0C3156-1784-4B0F-AEF8-1B4DFC269F7A}"/>
              </a:ext>
            </a:extLst>
          </p:cNvPr>
          <p:cNvSpPr txBox="1"/>
          <p:nvPr/>
        </p:nvSpPr>
        <p:spPr>
          <a:xfrm>
            <a:off x="6577545" y="6251837"/>
            <a:ext cx="316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*results in material system</a:t>
            </a:r>
          </a:p>
        </p:txBody>
      </p:sp>
    </p:spTree>
    <p:extLst>
      <p:ext uri="{BB962C8B-B14F-4D97-AF65-F5344CB8AC3E}">
        <p14:creationId xmlns:p14="http://schemas.microsoft.com/office/powerpoint/2010/main" val="1088163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6A22A7-FB27-4011-802E-D8DCB3E8AB80}"/>
              </a:ext>
            </a:extLst>
          </p:cNvPr>
          <p:cNvSpPr txBox="1"/>
          <p:nvPr/>
        </p:nvSpPr>
        <p:spPr>
          <a:xfrm>
            <a:off x="429223" y="758563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u="sng" dirty="0"/>
              <a:t>Pre processing: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B3F64A4-7312-4BDC-9EC6-D04C5684BD7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439025" y="1543394"/>
            <a:ext cx="1026912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33B34B7-187B-45BD-AD2F-BB501FAE7BB6}"/>
              </a:ext>
            </a:extLst>
          </p:cNvPr>
          <p:cNvSpPr txBox="1"/>
          <p:nvPr/>
        </p:nvSpPr>
        <p:spPr>
          <a:xfrm>
            <a:off x="285751" y="1220229"/>
            <a:ext cx="307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Hypermesh Matrix Browser</a:t>
            </a:r>
          </a:p>
          <a:p>
            <a:pPr algn="ctr"/>
            <a:r>
              <a:rPr lang="en-US" sz="1800" dirty="0"/>
              <a:t> from DFEM forces results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CFA4396-2D8A-402F-A191-E61C1D1B516E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363737" y="1543394"/>
            <a:ext cx="117168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1B02DF9-26A4-4700-B8F1-69370E0F74A3}"/>
              </a:ext>
            </a:extLst>
          </p:cNvPr>
          <p:cNvSpPr txBox="1"/>
          <p:nvPr/>
        </p:nvSpPr>
        <p:spPr>
          <a:xfrm>
            <a:off x="4535423" y="1220228"/>
            <a:ext cx="2903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Excel postprocessing in “</a:t>
            </a:r>
            <a:r>
              <a:rPr lang="en-US" b="1" i="1" dirty="0"/>
              <a:t>HF1_Loads_COLD_CDT.xls”</a:t>
            </a:r>
            <a:endParaRPr lang="en-US" sz="1800" b="1" i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F808F0-1744-44F3-A029-CCF573DCF56A}"/>
              </a:ext>
            </a:extLst>
          </p:cNvPr>
          <p:cNvSpPr txBox="1"/>
          <p:nvPr/>
        </p:nvSpPr>
        <p:spPr>
          <a:xfrm>
            <a:off x="8465937" y="1358727"/>
            <a:ext cx="2758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CDT Load Input </a:t>
            </a:r>
            <a:r>
              <a:rPr lang="en-US" sz="1800" i="1" dirty="0"/>
              <a:t>“.sal”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FE41E88-6414-4479-ABE7-EF6AAC8C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6" y="2175956"/>
            <a:ext cx="6101556" cy="250608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C0BFEAB-A56A-4B2D-8BC4-68A71CD21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013" y="2051225"/>
            <a:ext cx="5756770" cy="2737536"/>
          </a:xfrm>
          <a:prstGeom prst="rect">
            <a:avLst/>
          </a:prstGeom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E5340CB-AA8A-4E17-9BCB-1A95C02A5957}"/>
              </a:ext>
            </a:extLst>
          </p:cNvPr>
          <p:cNvCxnSpPr>
            <a:cxnSpLocks/>
          </p:cNvCxnSpPr>
          <p:nvPr/>
        </p:nvCxnSpPr>
        <p:spPr>
          <a:xfrm flipV="1">
            <a:off x="5781988" y="4401067"/>
            <a:ext cx="117168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BAAD35B-9165-44C1-ADB5-1553DE898915}"/>
              </a:ext>
            </a:extLst>
          </p:cNvPr>
          <p:cNvSpPr txBox="1"/>
          <p:nvPr/>
        </p:nvSpPr>
        <p:spPr>
          <a:xfrm>
            <a:off x="4711293" y="5637772"/>
            <a:ext cx="3313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(*) sign of moments are inverted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16D74A7-B3AF-489F-961A-8CBFD24B2AC3}"/>
              </a:ext>
            </a:extLst>
          </p:cNvPr>
          <p:cNvSpPr txBox="1"/>
          <p:nvPr/>
        </p:nvSpPr>
        <p:spPr>
          <a:xfrm>
            <a:off x="4606132" y="5098157"/>
            <a:ext cx="316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Reorder in SAM format</a:t>
            </a:r>
            <a:endParaRPr lang="en-US" sz="18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3A01371-4932-4D9A-B11B-F16F673D1E8C}"/>
              </a:ext>
            </a:extLst>
          </p:cNvPr>
          <p:cNvSpPr txBox="1"/>
          <p:nvPr/>
        </p:nvSpPr>
        <p:spPr>
          <a:xfrm>
            <a:off x="6081206" y="4023528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(*)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988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965E868-8F31-409C-872C-0860CFD5B54B}"/>
              </a:ext>
            </a:extLst>
          </p:cNvPr>
          <p:cNvSpPr txBox="1"/>
          <p:nvPr/>
        </p:nvSpPr>
        <p:spPr>
          <a:xfrm>
            <a:off x="10248900" y="1015810"/>
            <a:ext cx="2047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excelpreprocessing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0F95B96E-AFC4-457D-8B76-FC78A1CCA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222" y="1625968"/>
            <a:ext cx="4870339" cy="297321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D471C27-EDB5-4540-8F00-E95BD94335B9}"/>
              </a:ext>
            </a:extLst>
          </p:cNvPr>
          <p:cNvSpPr txBox="1"/>
          <p:nvPr/>
        </p:nvSpPr>
        <p:spPr>
          <a:xfrm>
            <a:off x="457798" y="702324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u="sng" dirty="0"/>
              <a:t>Inputs: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8941893-9257-418E-9938-136B3020E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98" y="1651934"/>
            <a:ext cx="4779940" cy="297322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7E5AC23-B3B2-4730-9C8E-543D00835004}"/>
              </a:ext>
            </a:extLst>
          </p:cNvPr>
          <p:cNvSpPr txBox="1"/>
          <p:nvPr/>
        </p:nvSpPr>
        <p:spPr>
          <a:xfrm>
            <a:off x="457798" y="1144316"/>
            <a:ext cx="28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i="1" dirty="0"/>
              <a:t>“SAM_CDT_HF1_COLD.dat”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D5F03D6-28C7-4985-BCF0-2B75EE166F75}"/>
              </a:ext>
            </a:extLst>
          </p:cNvPr>
          <p:cNvSpPr txBox="1"/>
          <p:nvPr/>
        </p:nvSpPr>
        <p:spPr>
          <a:xfrm>
            <a:off x="7252880" y="1144316"/>
            <a:ext cx="28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i="1" dirty="0"/>
              <a:t>“HF1_Loads_COLD_CDT.sal”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994CC83-7A90-437A-8960-4E34F62EFFE6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10081193" y="1328982"/>
            <a:ext cx="2040332" cy="4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981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471C27-EDB5-4540-8F00-E95BD94335B9}"/>
              </a:ext>
            </a:extLst>
          </p:cNvPr>
          <p:cNvSpPr txBox="1"/>
          <p:nvPr/>
        </p:nvSpPr>
        <p:spPr>
          <a:xfrm>
            <a:off x="457798" y="740278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u="sng" dirty="0"/>
              <a:t>Outputs: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E5AC23-B3B2-4730-9C8E-543D00835004}"/>
              </a:ext>
            </a:extLst>
          </p:cNvPr>
          <p:cNvSpPr txBox="1"/>
          <p:nvPr/>
        </p:nvSpPr>
        <p:spPr>
          <a:xfrm>
            <a:off x="457798" y="1144316"/>
            <a:ext cx="3073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i="1" dirty="0"/>
              <a:t>“SAM_CDT_HF1_COLD.out”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D5F03D6-28C7-4985-BCF0-2B75EE166F75}"/>
              </a:ext>
            </a:extLst>
          </p:cNvPr>
          <p:cNvSpPr txBox="1"/>
          <p:nvPr/>
        </p:nvSpPr>
        <p:spPr>
          <a:xfrm>
            <a:off x="6937696" y="1144316"/>
            <a:ext cx="314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i="1" dirty="0"/>
              <a:t>“SAM_CDT_HF1_COLD.aux.out”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6EEBAE-5680-4156-8714-6F727B53E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98" y="1513648"/>
            <a:ext cx="3501806" cy="33136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7171ACF-47D6-42AE-A35C-275ED77428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57798" y="4827272"/>
            <a:ext cx="5177483" cy="156920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11773C2-F92F-4E79-87EA-BDC3AA250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696" y="1513648"/>
            <a:ext cx="4075085" cy="453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2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7E5AC23-B3B2-4730-9C8E-543D00835004}"/>
              </a:ext>
            </a:extLst>
          </p:cNvPr>
          <p:cNvSpPr txBox="1"/>
          <p:nvPr/>
        </p:nvSpPr>
        <p:spPr>
          <a:xfrm>
            <a:off x="457797" y="1144316"/>
            <a:ext cx="806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dirty="0"/>
              <a:t>“SAM_CDT_HF1_COLD.out”         ,</a:t>
            </a:r>
            <a:r>
              <a:rPr lang="en-US" sz="1800" i="1" dirty="0"/>
              <a:t>“SAM_CDT_HF1_HOT.out”, … (para FY/-FY, FS…)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42409B1-945F-497A-8505-C6EDEDA9F7A0}"/>
              </a:ext>
            </a:extLst>
          </p:cNvPr>
          <p:cNvCxnSpPr/>
          <p:nvPr/>
        </p:nvCxnSpPr>
        <p:spPr>
          <a:xfrm>
            <a:off x="1960016" y="1513648"/>
            <a:ext cx="0" cy="306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A7A9E23-BAEB-4928-BF82-FA8D4C0B6D7F}"/>
              </a:ext>
            </a:extLst>
          </p:cNvPr>
          <p:cNvSpPr txBox="1"/>
          <p:nvPr/>
        </p:nvSpPr>
        <p:spPr>
          <a:xfrm>
            <a:off x="388267" y="1818031"/>
            <a:ext cx="314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dirty="0"/>
              <a:t>“CDT_HF1-RF_Results.xlsx”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F980651-55CB-47E0-9B5E-97BB18008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208" y="1048938"/>
            <a:ext cx="3198116" cy="592457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FB36238-C472-463A-9ED3-71EDB14BD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553" y="2272863"/>
            <a:ext cx="8277225" cy="40157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A6AC22C4-E5E1-4F73-B1D2-7919DBEBE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60" y="2209329"/>
            <a:ext cx="3422409" cy="892011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D4D96126-6FCA-4D9F-8951-4B82F22DC9DA}"/>
              </a:ext>
            </a:extLst>
          </p:cNvPr>
          <p:cNvSpPr txBox="1"/>
          <p:nvPr/>
        </p:nvSpPr>
        <p:spPr>
          <a:xfrm>
            <a:off x="429223" y="758563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u="sng" dirty="0"/>
              <a:t>Post processing:</a:t>
            </a:r>
          </a:p>
        </p:txBody>
      </p:sp>
    </p:spTree>
    <p:extLst>
      <p:ext uri="{BB962C8B-B14F-4D97-AF65-F5344CB8AC3E}">
        <p14:creationId xmlns:p14="http://schemas.microsoft.com/office/powerpoint/2010/main" val="3737222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471C27-EDB5-4540-8F00-E95BD94335B9}"/>
              </a:ext>
            </a:extLst>
          </p:cNvPr>
          <p:cNvSpPr txBox="1"/>
          <p:nvPr/>
        </p:nvSpPr>
        <p:spPr>
          <a:xfrm>
            <a:off x="429223" y="758563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u="sng" dirty="0"/>
              <a:t>Post processing: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D5F03D6-28C7-4985-BCF0-2B75EE166F75}"/>
              </a:ext>
            </a:extLst>
          </p:cNvPr>
          <p:cNvSpPr txBox="1"/>
          <p:nvPr/>
        </p:nvSpPr>
        <p:spPr>
          <a:xfrm>
            <a:off x="6937695" y="1174061"/>
            <a:ext cx="5050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“SAM_CDT_HF1_COLD.aux.out” &amp; “…HOT.aux.out”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CD306F9-0C68-4D4A-92F8-71908BE33E5E}"/>
              </a:ext>
            </a:extLst>
          </p:cNvPr>
          <p:cNvCxnSpPr>
            <a:cxnSpLocks/>
          </p:cNvCxnSpPr>
          <p:nvPr/>
        </p:nvCxnSpPr>
        <p:spPr>
          <a:xfrm>
            <a:off x="8817136" y="1543393"/>
            <a:ext cx="0" cy="2745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34A61E-5332-47C3-823E-424B31938625}"/>
              </a:ext>
            </a:extLst>
          </p:cNvPr>
          <p:cNvSpPr txBox="1"/>
          <p:nvPr/>
        </p:nvSpPr>
        <p:spPr>
          <a:xfrm>
            <a:off x="7245387" y="1818031"/>
            <a:ext cx="314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dirty="0"/>
              <a:t>“CDT_HF1_RF_Results.xlsx”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C4BACD7-6183-4C8C-B5FC-36B3694C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77" y="2187363"/>
            <a:ext cx="9599446" cy="4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9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31D278-48A0-42E1-81BB-DCF0AF9641E1}"/>
              </a:ext>
            </a:extLst>
          </p:cNvPr>
          <p:cNvSpPr txBox="1"/>
          <p:nvPr/>
        </p:nvSpPr>
        <p:spPr>
          <a:xfrm>
            <a:off x="429223" y="758563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u="sng" dirty="0"/>
              <a:t>Suggestions for future CDT analyses: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89C50D9-3904-467B-8608-EBC57E395F31}"/>
              </a:ext>
            </a:extLst>
          </p:cNvPr>
          <p:cNvSpPr txBox="1"/>
          <p:nvPr/>
        </p:nvSpPr>
        <p:spPr>
          <a:xfrm>
            <a:off x="555250" y="1298123"/>
            <a:ext cx="10954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· Preprocessing </a:t>
            </a:r>
            <a:r>
              <a:rPr lang="en-US" b="1" dirty="0"/>
              <a:t>automatization</a:t>
            </a:r>
            <a:r>
              <a:rPr lang="en-US" dirty="0"/>
              <a:t>: Directly from “</a:t>
            </a:r>
            <a:r>
              <a:rPr lang="en-US" i="1" dirty="0"/>
              <a:t>.op2” </a:t>
            </a:r>
            <a:r>
              <a:rPr lang="en-US" dirty="0"/>
              <a:t>results, obtain “</a:t>
            </a:r>
            <a:r>
              <a:rPr lang="en-US" i="1" dirty="0"/>
              <a:t>loads.sal” </a:t>
            </a:r>
            <a:r>
              <a:rPr lang="en-US" dirty="0"/>
              <a:t>input for CDT analysis with python</a:t>
            </a:r>
            <a:endParaRPr lang="en-US" sz="1800" i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D313BC-511C-4C08-B4D7-CE804CFFBAE1}"/>
              </a:ext>
            </a:extLst>
          </p:cNvPr>
          <p:cNvSpPr txBox="1"/>
          <p:nvPr/>
        </p:nvSpPr>
        <p:spPr>
          <a:xfrm>
            <a:off x="1431551" y="1852120"/>
            <a:ext cx="100784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Avoid mistakes with </a:t>
            </a:r>
            <a:r>
              <a:rPr lang="en-US" i="1" dirty="0"/>
              <a:t>Matrix Browser: </a:t>
            </a:r>
            <a:r>
              <a:rPr lang="en-US" dirty="0"/>
              <a:t>license dependent and sometimes</a:t>
            </a:r>
            <a:r>
              <a:rPr lang="en-US" i="1" dirty="0"/>
              <a:t> hace lo que le da la gana.</a:t>
            </a:r>
          </a:p>
          <a:p>
            <a:pPr marL="285750" indent="-285750">
              <a:buFontTx/>
              <a:buChar char="-"/>
            </a:pPr>
            <a:endParaRPr lang="en-US" sz="1800" i="1" dirty="0"/>
          </a:p>
          <a:p>
            <a:pPr marL="285750" indent="-285750">
              <a:buFontTx/>
              <a:buChar char="-"/>
            </a:pPr>
            <a:endParaRPr lang="en-US" i="1" dirty="0"/>
          </a:p>
          <a:p>
            <a:pPr marL="285750" indent="-285750">
              <a:buFontTx/>
              <a:buChar char="-"/>
            </a:pPr>
            <a:endParaRPr lang="en-US" sz="1800" i="1" dirty="0"/>
          </a:p>
          <a:p>
            <a:pPr marL="285750" indent="-285750">
              <a:buFontTx/>
              <a:buChar char="-"/>
            </a:pPr>
            <a:endParaRPr lang="en-US" i="1" dirty="0"/>
          </a:p>
          <a:p>
            <a:pPr marL="285750" indent="-285750">
              <a:buFontTx/>
              <a:buChar char="-"/>
            </a:pPr>
            <a:endParaRPr lang="en-US" sz="1800" i="1" dirty="0"/>
          </a:p>
          <a:p>
            <a:pPr marL="285750" indent="-285750">
              <a:buFontTx/>
              <a:buChar char="-"/>
            </a:pPr>
            <a:endParaRPr lang="en-US" i="1" dirty="0"/>
          </a:p>
          <a:p>
            <a:pPr marL="285750" indent="-285750">
              <a:buFontTx/>
              <a:buChar char="-"/>
            </a:pPr>
            <a:endParaRPr lang="en-US" sz="1800" i="1" dirty="0"/>
          </a:p>
          <a:p>
            <a:pPr marL="285750" indent="-285750">
              <a:buFontTx/>
              <a:buChar char="-"/>
            </a:pPr>
            <a:endParaRPr lang="en-US" i="1" dirty="0"/>
          </a:p>
          <a:p>
            <a:pPr marL="285750" indent="-285750">
              <a:buFontTx/>
              <a:buChar char="-"/>
            </a:pPr>
            <a:endParaRPr lang="en-US" sz="1800" i="1" dirty="0"/>
          </a:p>
          <a:p>
            <a:pPr marL="285750" indent="-285750">
              <a:buFontTx/>
              <a:buChar char="-"/>
            </a:pPr>
            <a:endParaRPr lang="en-US" sz="1800" i="1" dirty="0"/>
          </a:p>
          <a:p>
            <a:pPr marL="285750" indent="-285750">
              <a:buFontTx/>
              <a:buChar char="-"/>
            </a:pPr>
            <a:endParaRPr lang="en-US" sz="1800" i="1" dirty="0"/>
          </a:p>
          <a:p>
            <a:pPr marL="285750" indent="-285750">
              <a:buFontTx/>
              <a:buChar char="-"/>
            </a:pPr>
            <a:endParaRPr lang="en-US" sz="1800" dirty="0"/>
          </a:p>
          <a:p>
            <a:pPr marL="285750" indent="-285750">
              <a:buFontTx/>
              <a:buChar char="-"/>
            </a:pPr>
            <a:endParaRPr lang="en-US" sz="1800" dirty="0"/>
          </a:p>
          <a:p>
            <a:pPr marL="285750" indent="-285750">
              <a:buFontTx/>
              <a:buChar char="-"/>
            </a:pPr>
            <a:r>
              <a:rPr lang="en-US" sz="1800" dirty="0"/>
              <a:t>Saving time in preprocessing excel preparation: each fitting </a:t>
            </a:r>
            <a:r>
              <a:rPr lang="en-US" sz="1800" i="1" dirty="0"/>
              <a:t>HFx_Loads_COLD_CDT.xlsx </a:t>
            </a:r>
            <a:r>
              <a:rPr lang="en-US" sz="1800" dirty="0"/>
              <a:t>rows &amp; columns must be updated manually depending on number of elements and loadcases. 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5949CE4-9B13-45D8-BEA9-5821BDDD0680}"/>
              </a:ext>
            </a:extLst>
          </p:cNvPr>
          <p:cNvGrpSpPr/>
          <p:nvPr/>
        </p:nvGrpSpPr>
        <p:grpSpPr>
          <a:xfrm>
            <a:off x="7829535" y="2465670"/>
            <a:ext cx="3945695" cy="2440528"/>
            <a:chOff x="7787590" y="2869703"/>
            <a:chExt cx="3945695" cy="2440528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7C866E2-E0A8-4079-84E7-F91A7FB79BAF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268"/>
            <a:stretch/>
          </p:blipFill>
          <p:spPr bwMode="auto">
            <a:xfrm>
              <a:off x="7787590" y="2869703"/>
              <a:ext cx="3945695" cy="2440528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0718954E-1585-4854-9AB5-7B93328FEB8F}"/>
                </a:ext>
              </a:extLst>
            </p:cNvPr>
            <p:cNvGrpSpPr/>
            <p:nvPr/>
          </p:nvGrpSpPr>
          <p:grpSpPr>
            <a:xfrm>
              <a:off x="9194991" y="3111044"/>
              <a:ext cx="551402" cy="1351899"/>
              <a:chOff x="7874000" y="3618468"/>
              <a:chExt cx="551402" cy="1226582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A0CAE218-7711-4850-8410-E0F68452A8C9}"/>
                  </a:ext>
                </a:extLst>
              </p:cNvPr>
              <p:cNvSpPr/>
              <p:nvPr/>
            </p:nvSpPr>
            <p:spPr>
              <a:xfrm>
                <a:off x="7874000" y="3987800"/>
                <a:ext cx="219075" cy="8572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C4A454A-770A-4DFB-9081-C279DF154EBC}"/>
                  </a:ext>
                </a:extLst>
              </p:cNvPr>
              <p:cNvSpPr txBox="1"/>
              <p:nvPr/>
            </p:nvSpPr>
            <p:spPr>
              <a:xfrm>
                <a:off x="8025934" y="3618468"/>
                <a:ext cx="399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dirty="0">
                    <a:solidFill>
                      <a:srgbClr val="FF0000"/>
                    </a:solidFill>
                  </a:rPr>
                  <a:t>¿?</a:t>
                </a:r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CFB1CA2-416C-4E03-A198-93E35A980ABF}"/>
              </a:ext>
            </a:extLst>
          </p:cNvPr>
          <p:cNvGrpSpPr/>
          <p:nvPr/>
        </p:nvGrpSpPr>
        <p:grpSpPr>
          <a:xfrm>
            <a:off x="1166364" y="2419256"/>
            <a:ext cx="5264666" cy="2734812"/>
            <a:chOff x="1389606" y="2747038"/>
            <a:chExt cx="5264666" cy="2734812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491B63F-CBFB-4FCE-B8B3-6F507A3DD7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971" b="8998"/>
            <a:stretch/>
          </p:blipFill>
          <p:spPr>
            <a:xfrm>
              <a:off x="1389606" y="2747038"/>
              <a:ext cx="5264666" cy="2734812"/>
            </a:xfrm>
            <a:prstGeom prst="rect">
              <a:avLst/>
            </a:prstGeom>
          </p:spPr>
        </p:pic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4FF51E9-380F-4F80-97DB-F5BBF0F0AC3C}"/>
                </a:ext>
              </a:extLst>
            </p:cNvPr>
            <p:cNvSpPr/>
            <p:nvPr/>
          </p:nvSpPr>
          <p:spPr>
            <a:xfrm>
              <a:off x="2781300" y="4241312"/>
              <a:ext cx="754380" cy="6431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6637EC80-88DB-4D22-9784-5DE4DCD1E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30" y="3971327"/>
            <a:ext cx="1922068" cy="119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64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E7C7CD46-B8BA-4DCE-99E9-4926F3C012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291"/>
          <a:stretch/>
        </p:blipFill>
        <p:spPr>
          <a:xfrm>
            <a:off x="4967287" y="3641147"/>
            <a:ext cx="1869797" cy="278596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2388B8-772A-4C16-A5F5-DA8E00102EA3}"/>
              </a:ext>
            </a:extLst>
          </p:cNvPr>
          <p:cNvSpPr txBox="1"/>
          <p:nvPr/>
        </p:nvSpPr>
        <p:spPr>
          <a:xfrm>
            <a:off x="1389606" y="2256153"/>
            <a:ext cx="100784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Again, s</a:t>
            </a:r>
            <a:r>
              <a:rPr lang="en-US" sz="1800" dirty="0"/>
              <a:t>aving time in postprocessing excel preparation, where each fitting </a:t>
            </a:r>
            <a:r>
              <a:rPr lang="en-US" sz="1800" i="1" dirty="0"/>
              <a:t>CDT_HFx_RF_Results.xlsx </a:t>
            </a:r>
            <a:r>
              <a:rPr lang="en-US" sz="1800" dirty="0"/>
              <a:t>must be updated depending on number of elements and loadcases. </a:t>
            </a:r>
          </a:p>
          <a:p>
            <a:pPr marL="285750" indent="-285750">
              <a:buFontTx/>
              <a:buChar char="-"/>
            </a:pPr>
            <a:endParaRPr lang="en-US" sz="1800" dirty="0"/>
          </a:p>
          <a:p>
            <a:pPr marL="285750" indent="-285750">
              <a:buFontTx/>
              <a:buChar char="-"/>
            </a:pPr>
            <a:r>
              <a:rPr lang="en-US" sz="1800" dirty="0"/>
              <a:t>Instead of this, obtain ONLY needed information directly from “</a:t>
            </a:r>
            <a:r>
              <a:rPr lang="en-US" sz="1800" i="1" dirty="0"/>
              <a:t>.aux.out”</a:t>
            </a:r>
            <a:endParaRPr lang="en-US" sz="1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831D278-48A0-42E1-81BB-DCF0AF9641E1}"/>
              </a:ext>
            </a:extLst>
          </p:cNvPr>
          <p:cNvSpPr txBox="1"/>
          <p:nvPr/>
        </p:nvSpPr>
        <p:spPr>
          <a:xfrm>
            <a:off x="429223" y="758563"/>
            <a:ext cx="7358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u="sng" dirty="0"/>
              <a:t>Suggestions for future CDT analyses: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937318-3400-4BC2-9AB5-58030A494121}"/>
              </a:ext>
            </a:extLst>
          </p:cNvPr>
          <p:cNvSpPr txBox="1"/>
          <p:nvPr/>
        </p:nvSpPr>
        <p:spPr>
          <a:xfrm>
            <a:off x="513306" y="1702156"/>
            <a:ext cx="10078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· Postprocessing </a:t>
            </a:r>
            <a:r>
              <a:rPr lang="en-US" b="1" dirty="0"/>
              <a:t>automatization</a:t>
            </a:r>
            <a:r>
              <a:rPr lang="en-US" dirty="0"/>
              <a:t>: Postprocessing all results from </a:t>
            </a:r>
            <a:r>
              <a:rPr lang="en-US" i="1" dirty="0"/>
              <a:t>“.aux.out” </a:t>
            </a:r>
            <a:r>
              <a:rPr lang="en-US" dirty="0"/>
              <a:t>directly</a:t>
            </a:r>
            <a:r>
              <a:rPr lang="en-US" i="1" dirty="0"/>
              <a:t> </a:t>
            </a:r>
            <a:r>
              <a:rPr lang="en-US" dirty="0"/>
              <a:t>with python</a:t>
            </a:r>
            <a:endParaRPr lang="en-US" sz="1800" i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2DAF21D-082E-40B7-911A-DD450286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3641147"/>
            <a:ext cx="4039017" cy="2598348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CF5BAD0-7675-4329-9FB7-41338D79742B}"/>
              </a:ext>
            </a:extLst>
          </p:cNvPr>
          <p:cNvCxnSpPr>
            <a:cxnSpLocks/>
          </p:cNvCxnSpPr>
          <p:nvPr/>
        </p:nvCxnSpPr>
        <p:spPr>
          <a:xfrm>
            <a:off x="6686550" y="5143500"/>
            <a:ext cx="6477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3B40039C-2B5A-4708-B123-B35B4E9C7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52" y="4231405"/>
            <a:ext cx="4486798" cy="1110215"/>
          </a:xfrm>
          <a:prstGeom prst="rect">
            <a:avLst/>
          </a:prstGeom>
        </p:spPr>
      </p:pic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F597325-372D-4856-A5DF-DA924CE0AAF4}"/>
              </a:ext>
            </a:extLst>
          </p:cNvPr>
          <p:cNvCxnSpPr>
            <a:cxnSpLocks/>
          </p:cNvCxnSpPr>
          <p:nvPr/>
        </p:nvCxnSpPr>
        <p:spPr>
          <a:xfrm flipV="1">
            <a:off x="4448175" y="3952875"/>
            <a:ext cx="1781175" cy="733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032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62D3AB-55EE-48E3-A10D-05C7D1A58DFB}"/>
              </a:ext>
            </a:extLst>
          </p:cNvPr>
          <p:cNvSpPr txBox="1"/>
          <p:nvPr/>
        </p:nvSpPr>
        <p:spPr>
          <a:xfrm>
            <a:off x="460171" y="744523"/>
            <a:ext cx="1672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References: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8EF615-84F5-45EA-B1A0-13740B708F77}"/>
              </a:ext>
            </a:extLst>
          </p:cNvPr>
          <p:cNvSpPr txBox="1"/>
          <p:nvPr/>
        </p:nvSpPr>
        <p:spPr>
          <a:xfrm>
            <a:off x="460170" y="1373698"/>
            <a:ext cx="1161158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800" b="0" i="0" u="none" strike="noStrike" baseline="0" dirty="0"/>
              <a:t>· TEAS-NT-1910014-J: </a:t>
            </a:r>
            <a:r>
              <a:rPr lang="en-GB" dirty="0"/>
              <a:t>Material Design Values and Methods for Structural Analysis of the Future Falcon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· TEA-T-NT-190111-J_SAM: SAM Stress Software User’s Reference Manual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· SMM_section1.4_chapter1451_CFRP_IMA-M21E-UD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2283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5105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Office PowerPoint</Application>
  <PresentationFormat>Panorámica</PresentationFormat>
  <Paragraphs>114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Balsalobre Carmona, Guillermo (external) [ES]</dc:creator>
  <cp:lastModifiedBy>Balsalobre Carmona, Guillermo (external) [ES]</cp:lastModifiedBy>
  <cp:revision>59</cp:revision>
  <dcterms:created xsi:type="dcterms:W3CDTF">2025-07-10T11:18:55Z</dcterms:created>
  <dcterms:modified xsi:type="dcterms:W3CDTF">2025-07-14T09:40:51Z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0105fe13-a94f-49e6-b03c-c54f0908f049</vt:lpwstr>
  </property>
  <property fmtid="{D5CDD505-2E9C-101B-9397-08002B2CF9AE}" pid="3" name="L">
    <vt:lpwstr>XXSEN</vt:lpwstr>
  </property>
  <property fmtid="{D5CDD505-2E9C-101B-9397-08002B2CF9AE}" pid="4" name="CC">
    <vt:lpwstr>XXAAM</vt:lpwstr>
  </property>
  <property fmtid="{D5CDD505-2E9C-101B-9397-08002B2CF9AE}" pid="5" name="PP">
    <vt:lpwstr>XXPCA</vt:lpwstr>
  </property>
  <property fmtid="{D5CDD505-2E9C-101B-9397-08002B2CF9AE}" pid="6" name="E">
    <vt:lpwstr>E0000</vt:lpwstr>
  </property>
  <property fmtid="{D5CDD505-2E9C-101B-9397-08002B2CF9AE}" pid="7" name="GD">
    <vt:lpwstr>XXGCA</vt:lpwstr>
  </property>
  <property fmtid="{D5CDD505-2E9C-101B-9397-08002B2CF9AE}" pid="8" name="OT">
    <vt:lpwstr>XXOCA</vt:lpwstr>
  </property>
  <property fmtid="{D5CDD505-2E9C-101B-9397-08002B2CF9AE}" pid="9" name="CAV">
    <vt:lpwstr>NOC</vt:lpwstr>
  </property>
  <property fmtid="{D5CDD505-2E9C-101B-9397-08002B2CF9AE}" pid="10" name="STAMP">
    <vt:lpwstr>YES</vt:lpwstr>
  </property>
</Properties>
</file>